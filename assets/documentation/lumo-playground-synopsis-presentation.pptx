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ans" charset="1" panose="00000000000000000000"/>
      <p:regular r:id="rId12"/>
    </p:embeddedFont>
    <p:embeddedFont>
      <p:font typeface="DM Sans Bold" charset="1" panose="00000000000000000000"/>
      <p:regular r:id="rId13"/>
    </p:embeddedFont>
    <p:embeddedFont>
      <p:font typeface="Shuneet Square" charset="1" panose="00000000000000000000"/>
      <p:regular r:id="rId14"/>
    </p:embeddedFont>
    <p:embeddedFont>
      <p:font typeface="Moontim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9.png" Type="http://schemas.openxmlformats.org/officeDocument/2006/relationships/image"/><Relationship Id="rId15" Target="../media/image10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7267">
            <a:off x="11626961" y="4969938"/>
            <a:ext cx="3506155" cy="3605301"/>
          </a:xfrm>
          <a:custGeom>
            <a:avLst/>
            <a:gdLst/>
            <a:ahLst/>
            <a:cxnLst/>
            <a:rect r="r" b="b" t="t" l="l"/>
            <a:pathLst>
              <a:path h="3605301" w="3506155">
                <a:moveTo>
                  <a:pt x="0" y="0"/>
                </a:moveTo>
                <a:lnTo>
                  <a:pt x="3506155" y="0"/>
                </a:lnTo>
                <a:lnTo>
                  <a:pt x="3506155" y="3605301"/>
                </a:lnTo>
                <a:lnTo>
                  <a:pt x="0" y="36053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0269">
            <a:off x="12302594" y="5045511"/>
            <a:ext cx="1578703" cy="580173"/>
          </a:xfrm>
          <a:custGeom>
            <a:avLst/>
            <a:gdLst/>
            <a:ahLst/>
            <a:cxnLst/>
            <a:rect r="r" b="b" t="t" l="l"/>
            <a:pathLst>
              <a:path h="580173" w="1578703">
                <a:moveTo>
                  <a:pt x="0" y="0"/>
                </a:moveTo>
                <a:lnTo>
                  <a:pt x="1578703" y="0"/>
                </a:lnTo>
                <a:lnTo>
                  <a:pt x="1578703" y="580173"/>
                </a:lnTo>
                <a:lnTo>
                  <a:pt x="0" y="5801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40269">
            <a:off x="9801486" y="4483712"/>
            <a:ext cx="673878" cy="673878"/>
          </a:xfrm>
          <a:custGeom>
            <a:avLst/>
            <a:gdLst/>
            <a:ahLst/>
            <a:cxnLst/>
            <a:rect r="r" b="b" t="t" l="l"/>
            <a:pathLst>
              <a:path h="673878" w="673878">
                <a:moveTo>
                  <a:pt x="0" y="0"/>
                </a:moveTo>
                <a:lnTo>
                  <a:pt x="673878" y="0"/>
                </a:lnTo>
                <a:lnTo>
                  <a:pt x="673878" y="673878"/>
                </a:lnTo>
                <a:lnTo>
                  <a:pt x="0" y="673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9164" y="4651405"/>
            <a:ext cx="10018836" cy="5635595"/>
          </a:xfrm>
          <a:custGeom>
            <a:avLst/>
            <a:gdLst/>
            <a:ahLst/>
            <a:cxnLst/>
            <a:rect r="r" b="b" t="t" l="l"/>
            <a:pathLst>
              <a:path h="5635595" w="10018836">
                <a:moveTo>
                  <a:pt x="0" y="0"/>
                </a:moveTo>
                <a:lnTo>
                  <a:pt x="10018836" y="0"/>
                </a:lnTo>
                <a:lnTo>
                  <a:pt x="10018836" y="5635595"/>
                </a:lnTo>
                <a:lnTo>
                  <a:pt x="0" y="56355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44" t="-856" r="-4590" b="-80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8292" y="4461005"/>
            <a:ext cx="1596057" cy="1596057"/>
          </a:xfrm>
          <a:custGeom>
            <a:avLst/>
            <a:gdLst/>
            <a:ahLst/>
            <a:cxnLst/>
            <a:rect r="r" b="b" t="t" l="l"/>
            <a:pathLst>
              <a:path h="1596057" w="1596057">
                <a:moveTo>
                  <a:pt x="0" y="0"/>
                </a:moveTo>
                <a:lnTo>
                  <a:pt x="1596057" y="0"/>
                </a:lnTo>
                <a:lnTo>
                  <a:pt x="1596057" y="1596057"/>
                </a:lnTo>
                <a:lnTo>
                  <a:pt x="0" y="15960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99628" y="441432"/>
            <a:ext cx="39330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October 9, 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292" y="932922"/>
            <a:ext cx="11344275" cy="133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91"/>
              </a:lnSpc>
            </a:pPr>
            <a:r>
              <a:rPr lang="en-US" b="true" sz="9355" spc="-9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Lumo Playground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292" y="7924406"/>
            <a:ext cx="5166657" cy="155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22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</a:t>
            </a:r>
            <a:r>
              <a:rPr lang="en-US" sz="22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Members:</a:t>
            </a:r>
          </a:p>
          <a:p>
            <a:pPr algn="l">
              <a:lnSpc>
                <a:spcPts val="3147"/>
              </a:lnSpc>
            </a:pPr>
            <a:r>
              <a:rPr lang="en-US" sz="22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Ojus (2224459)</a:t>
            </a:r>
          </a:p>
          <a:p>
            <a:pPr algn="l">
              <a:lnSpc>
                <a:spcPts val="3147"/>
              </a:lnSpc>
            </a:pPr>
            <a:r>
              <a:rPr lang="en-US" sz="224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Noordeep Kaur (2224457) </a:t>
            </a:r>
          </a:p>
          <a:p>
            <a:pPr algn="l">
              <a:lnSpc>
                <a:spcPts val="314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86416" y="7960515"/>
            <a:ext cx="5795746" cy="129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31"/>
              </a:lnSpc>
            </a:pPr>
            <a:r>
              <a:rPr lang="en-US" sz="25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</a:t>
            </a:r>
            <a:r>
              <a:rPr lang="en-US" sz="25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Mentor:</a:t>
            </a:r>
          </a:p>
          <a:p>
            <a:pPr algn="r">
              <a:lnSpc>
                <a:spcPts val="3531"/>
              </a:lnSpc>
            </a:pPr>
            <a:r>
              <a:rPr lang="en-US" sz="25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Ms. Poonam</a:t>
            </a:r>
            <a:r>
              <a:rPr lang="en-US" sz="25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r">
              <a:lnSpc>
                <a:spcPts val="353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30996" y="2497894"/>
            <a:ext cx="9047783" cy="116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8"/>
              </a:lnSpc>
            </a:pPr>
            <a:r>
              <a:rPr lang="en-US" sz="33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Interactive 3D Web Application</a:t>
            </a:r>
            <a:r>
              <a:rPr lang="en-US" sz="33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with Gesture</a:t>
            </a:r>
            <a:r>
              <a:rPr lang="en-US" sz="332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Control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292" y="6177048"/>
            <a:ext cx="5638281" cy="32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8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(Department of Computer Science &amp; Engineering)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996" y="6623449"/>
            <a:ext cx="5638281" cy="65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8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Project-II: BTCS-703-18</a:t>
            </a:r>
          </a:p>
          <a:p>
            <a:pPr algn="l">
              <a:lnSpc>
                <a:spcPts val="264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39330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Lumo Playground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87634" y="2311082"/>
            <a:ext cx="5923475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5499" spc="-5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3805" y="2822257"/>
            <a:ext cx="7887562" cy="6287509"/>
            <a:chOff x="0" y="0"/>
            <a:chExt cx="2366446" cy="18863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6446" cy="1886394"/>
            </a:xfrm>
            <a:custGeom>
              <a:avLst/>
              <a:gdLst/>
              <a:ahLst/>
              <a:cxnLst/>
              <a:rect r="r" b="b" t="t" l="l"/>
              <a:pathLst>
                <a:path h="1886394" w="2366446">
                  <a:moveTo>
                    <a:pt x="2241986" y="1886394"/>
                  </a:moveTo>
                  <a:lnTo>
                    <a:pt x="124460" y="1886394"/>
                  </a:lnTo>
                  <a:cubicBezTo>
                    <a:pt x="55880" y="1886394"/>
                    <a:pt x="0" y="1830514"/>
                    <a:pt x="0" y="17619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41986" y="0"/>
                  </a:lnTo>
                  <a:cubicBezTo>
                    <a:pt x="2310566" y="0"/>
                    <a:pt x="2366446" y="55880"/>
                    <a:pt x="2366446" y="124460"/>
                  </a:cubicBezTo>
                  <a:lnTo>
                    <a:pt x="2366446" y="1761934"/>
                  </a:lnTo>
                  <a:cubicBezTo>
                    <a:pt x="2366446" y="1830514"/>
                    <a:pt x="2310566" y="1886394"/>
                    <a:pt x="2241986" y="1886394"/>
                  </a:cubicBezTo>
                  <a:close/>
                </a:path>
              </a:pathLst>
            </a:custGeom>
            <a:solidFill>
              <a:srgbClr val="000000">
                <a:alpha val="274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59753" y="3339674"/>
            <a:ext cx="6857296" cy="2884559"/>
            <a:chOff x="0" y="0"/>
            <a:chExt cx="9143062" cy="38460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9143062" cy="2762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01"/>
                </a:lnSpc>
                <a:spcBef>
                  <a:spcPct val="0"/>
                </a:spcBef>
              </a:pPr>
              <a:r>
                <a:rPr lang="en-US" b="true" sz="6001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P</a:t>
              </a:r>
              <a:r>
                <a:rPr lang="en-US" b="true" sz="6001" spc="-6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roblem Statement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277405"/>
              <a:ext cx="9143062" cy="568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6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215" y="5447483"/>
            <a:ext cx="6857296" cy="323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719" indent="-247359" lvl="1">
              <a:lnSpc>
                <a:spcPts val="3207"/>
              </a:lnSpc>
              <a:buFont typeface="Arial"/>
              <a:buChar char="•"/>
            </a:pP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Traditional 3D software depends on:</a:t>
            </a:r>
          </a:p>
          <a:p>
            <a:pPr algn="l" marL="494719" indent="-247359" lvl="1">
              <a:lnSpc>
                <a:spcPts val="3207"/>
              </a:lnSpc>
              <a:buFont typeface="Arial"/>
              <a:buChar char="•"/>
            </a:pP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Keyboard shortcuts</a:t>
            </a:r>
          </a:p>
          <a:p>
            <a:pPr algn="l" marL="494719" indent="-247359" lvl="1">
              <a:lnSpc>
                <a:spcPts val="3207"/>
              </a:lnSpc>
              <a:buFont typeface="Arial"/>
              <a:buChar char="•"/>
            </a:pP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Mouse &amp; toolbar controls</a:t>
            </a:r>
          </a:p>
          <a:p>
            <a:pPr algn="l" marL="494719" indent="-247359" lvl="1">
              <a:lnSpc>
                <a:spcPts val="3207"/>
              </a:lnSpc>
              <a:buFont typeface="Arial"/>
              <a:buChar char="•"/>
            </a:pP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These methods are complex and have a steep learning curve.</a:t>
            </a:r>
          </a:p>
          <a:p>
            <a:pPr algn="l" marL="494719" indent="-247359" lvl="1">
              <a:lnSpc>
                <a:spcPts val="3207"/>
              </a:lnSpc>
              <a:buFont typeface="Arial"/>
              <a:buChar char="•"/>
            </a:pPr>
            <a:r>
              <a:rPr lang="en-US" sz="229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Most solutions require desktop installation, reducing accessibility.</a:t>
            </a:r>
          </a:p>
          <a:p>
            <a:pPr algn="l" marL="0" indent="0" lvl="0">
              <a:lnSpc>
                <a:spcPts val="320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526155" y="4370896"/>
            <a:ext cx="7080911" cy="1124223"/>
            <a:chOff x="0" y="0"/>
            <a:chExt cx="7920195" cy="1257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0196" cy="1257475"/>
            </a:xfrm>
            <a:custGeom>
              <a:avLst/>
              <a:gdLst/>
              <a:ahLst/>
              <a:cxnLst/>
              <a:rect r="r" b="b" t="t" l="l"/>
              <a:pathLst>
                <a:path h="1257475" w="7920196">
                  <a:moveTo>
                    <a:pt x="7795735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95735" y="0"/>
                  </a:lnTo>
                  <a:cubicBezTo>
                    <a:pt x="7864315" y="0"/>
                    <a:pt x="7920196" y="55880"/>
                    <a:pt x="7920196" y="124460"/>
                  </a:cubicBezTo>
                  <a:lnTo>
                    <a:pt x="7920196" y="1133015"/>
                  </a:lnTo>
                  <a:cubicBezTo>
                    <a:pt x="7920196" y="1201595"/>
                    <a:pt x="7864315" y="1257475"/>
                    <a:pt x="7795735" y="1257475"/>
                  </a:cubicBezTo>
                  <a:close/>
                </a:path>
              </a:pathLst>
            </a:custGeom>
            <a:solidFill>
              <a:srgbClr val="000000">
                <a:alpha val="392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56726" y="6152345"/>
            <a:ext cx="7712073" cy="1181994"/>
            <a:chOff x="0" y="0"/>
            <a:chExt cx="8204562" cy="1257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04562" cy="1257475"/>
            </a:xfrm>
            <a:custGeom>
              <a:avLst/>
              <a:gdLst/>
              <a:ahLst/>
              <a:cxnLst/>
              <a:rect r="r" b="b" t="t" l="l"/>
              <a:pathLst>
                <a:path h="1257475" w="8204562">
                  <a:moveTo>
                    <a:pt x="8080102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080102" y="0"/>
                  </a:lnTo>
                  <a:cubicBezTo>
                    <a:pt x="8148682" y="0"/>
                    <a:pt x="8204562" y="55880"/>
                    <a:pt x="8204562" y="124460"/>
                  </a:cubicBezTo>
                  <a:lnTo>
                    <a:pt x="8204562" y="1133015"/>
                  </a:lnTo>
                  <a:cubicBezTo>
                    <a:pt x="8204562" y="1201595"/>
                    <a:pt x="8148682" y="1257475"/>
                    <a:pt x="8080102" y="1257475"/>
                  </a:cubicBezTo>
                  <a:close/>
                </a:path>
              </a:pathLst>
            </a:custGeom>
            <a:solidFill>
              <a:srgbClr val="000000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76374" y="7996508"/>
            <a:ext cx="7011842" cy="1113258"/>
            <a:chOff x="0" y="0"/>
            <a:chExt cx="7920195" cy="12574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0196" cy="1257475"/>
            </a:xfrm>
            <a:custGeom>
              <a:avLst/>
              <a:gdLst/>
              <a:ahLst/>
              <a:cxnLst/>
              <a:rect r="r" b="b" t="t" l="l"/>
              <a:pathLst>
                <a:path h="1257475" w="7920196">
                  <a:moveTo>
                    <a:pt x="7795735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95735" y="0"/>
                  </a:lnTo>
                  <a:cubicBezTo>
                    <a:pt x="7864315" y="0"/>
                    <a:pt x="7920196" y="55880"/>
                    <a:pt x="7920196" y="124460"/>
                  </a:cubicBezTo>
                  <a:lnTo>
                    <a:pt x="7920196" y="1133015"/>
                  </a:lnTo>
                  <a:cubicBezTo>
                    <a:pt x="7920196" y="1201595"/>
                    <a:pt x="7864315" y="1257475"/>
                    <a:pt x="7795735" y="1257475"/>
                  </a:cubicBezTo>
                  <a:close/>
                </a:path>
              </a:pathLst>
            </a:custGeom>
            <a:solidFill>
              <a:srgbClr val="000000">
                <a:alpha val="3922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63818" y="4455726"/>
            <a:ext cx="5394580" cy="90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Lumo-Playg</a:t>
            </a: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round is an interactive 3D web application.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8583" y="8070372"/>
            <a:ext cx="6398094" cy="90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anipulate 3D models using hand gestures in real time.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39077" y="6304531"/>
            <a:ext cx="6472597" cy="90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</a:t>
            </a:r>
            <a:r>
              <a:rPr lang="en-US" sz="2600" spc="-2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egrates computer vision + 3D graphics for natural, immersive interaction.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26155" y="4370896"/>
            <a:ext cx="1141259" cy="1124223"/>
            <a:chOff x="0" y="0"/>
            <a:chExt cx="1276530" cy="12574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6530" cy="1257475"/>
            </a:xfrm>
            <a:custGeom>
              <a:avLst/>
              <a:gdLst/>
              <a:ahLst/>
              <a:cxnLst/>
              <a:rect r="r" b="b" t="t" l="l"/>
              <a:pathLst>
                <a:path h="1257475" w="1276530">
                  <a:moveTo>
                    <a:pt x="1152070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52070" y="0"/>
                  </a:lnTo>
                  <a:cubicBezTo>
                    <a:pt x="1220650" y="0"/>
                    <a:pt x="1276530" y="55880"/>
                    <a:pt x="1276530" y="124460"/>
                  </a:cubicBezTo>
                  <a:lnTo>
                    <a:pt x="1276530" y="1133015"/>
                  </a:lnTo>
                  <a:cubicBezTo>
                    <a:pt x="1276530" y="1201595"/>
                    <a:pt x="1220650" y="1257475"/>
                    <a:pt x="1152070" y="1257475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76374" y="7996508"/>
            <a:ext cx="1130127" cy="1113258"/>
            <a:chOff x="0" y="0"/>
            <a:chExt cx="1276530" cy="12574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6530" cy="1257475"/>
            </a:xfrm>
            <a:custGeom>
              <a:avLst/>
              <a:gdLst/>
              <a:ahLst/>
              <a:cxnLst/>
              <a:rect r="r" b="b" t="t" l="l"/>
              <a:pathLst>
                <a:path h="1257475" w="1276530">
                  <a:moveTo>
                    <a:pt x="1152070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52070" y="0"/>
                  </a:lnTo>
                  <a:cubicBezTo>
                    <a:pt x="1220650" y="0"/>
                    <a:pt x="1276530" y="55880"/>
                    <a:pt x="1276530" y="124460"/>
                  </a:cubicBezTo>
                  <a:lnTo>
                    <a:pt x="1276530" y="1133015"/>
                  </a:lnTo>
                  <a:cubicBezTo>
                    <a:pt x="1276530" y="1201595"/>
                    <a:pt x="1220650" y="1257475"/>
                    <a:pt x="1152070" y="1257475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56726" y="6201210"/>
            <a:ext cx="1150299" cy="1133128"/>
            <a:chOff x="0" y="0"/>
            <a:chExt cx="1276530" cy="12574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6530" cy="1257475"/>
            </a:xfrm>
            <a:custGeom>
              <a:avLst/>
              <a:gdLst/>
              <a:ahLst/>
              <a:cxnLst/>
              <a:rect r="r" b="b" t="t" l="l"/>
              <a:pathLst>
                <a:path h="1257475" w="1276530">
                  <a:moveTo>
                    <a:pt x="1152070" y="1257475"/>
                  </a:moveTo>
                  <a:lnTo>
                    <a:pt x="124460" y="1257475"/>
                  </a:lnTo>
                  <a:cubicBezTo>
                    <a:pt x="55880" y="1257475"/>
                    <a:pt x="0" y="1201595"/>
                    <a:pt x="0" y="1133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52070" y="0"/>
                  </a:lnTo>
                  <a:cubicBezTo>
                    <a:pt x="1220650" y="0"/>
                    <a:pt x="1276530" y="55880"/>
                    <a:pt x="1276530" y="124460"/>
                  </a:cubicBezTo>
                  <a:lnTo>
                    <a:pt x="1276530" y="1133015"/>
                  </a:lnTo>
                  <a:cubicBezTo>
                    <a:pt x="1276530" y="1201595"/>
                    <a:pt x="1220650" y="1257475"/>
                    <a:pt x="1152070" y="1257475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811469" y="4548250"/>
            <a:ext cx="570629" cy="68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2"/>
              </a:lnSpc>
              <a:spcBef>
                <a:spcPct val="0"/>
              </a:spcBef>
            </a:pPr>
            <a:r>
              <a:rPr lang="en-US" b="true" sz="3930" spc="-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4301" y="6390172"/>
            <a:ext cx="575149" cy="67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45"/>
              </a:lnSpc>
              <a:spcBef>
                <a:spcPct val="0"/>
              </a:spcBef>
            </a:pPr>
            <a:r>
              <a:rPr lang="en-US" b="true" sz="3961" spc="-3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58906" y="8190345"/>
            <a:ext cx="565063" cy="65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8"/>
              </a:lnSpc>
              <a:spcBef>
                <a:spcPct val="0"/>
              </a:spcBef>
            </a:pPr>
            <a:r>
              <a:rPr lang="en-US" b="true" sz="3891" spc="-3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26155" y="2148186"/>
            <a:ext cx="6795596" cy="1348143"/>
            <a:chOff x="0" y="0"/>
            <a:chExt cx="3328884" cy="660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28885" cy="660400"/>
            </a:xfrm>
            <a:custGeom>
              <a:avLst/>
              <a:gdLst/>
              <a:ahLst/>
              <a:cxnLst/>
              <a:rect r="r" b="b" t="t" l="l"/>
              <a:pathLst>
                <a:path h="660400" w="3328885">
                  <a:moveTo>
                    <a:pt x="3204424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04425" y="0"/>
                  </a:lnTo>
                  <a:cubicBezTo>
                    <a:pt x="3273004" y="0"/>
                    <a:pt x="3328885" y="55880"/>
                    <a:pt x="3328885" y="124460"/>
                  </a:cubicBezTo>
                  <a:lnTo>
                    <a:pt x="3328885" y="535940"/>
                  </a:lnTo>
                  <a:cubicBezTo>
                    <a:pt x="3328885" y="604520"/>
                    <a:pt x="3273004" y="660400"/>
                    <a:pt x="3204425" y="660400"/>
                  </a:cubicBezTo>
                  <a:close/>
                </a:path>
              </a:pathLst>
            </a:custGeom>
            <a:solidFill>
              <a:srgbClr val="000000">
                <a:alpha val="2745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05651"/>
            <a:ext cx="7228633" cy="5762248"/>
            <a:chOff x="0" y="0"/>
            <a:chExt cx="2366446" cy="1886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6446" cy="1886394"/>
            </a:xfrm>
            <a:custGeom>
              <a:avLst/>
              <a:gdLst/>
              <a:ahLst/>
              <a:cxnLst/>
              <a:rect r="r" b="b" t="t" l="l"/>
              <a:pathLst>
                <a:path h="1886394" w="2366446">
                  <a:moveTo>
                    <a:pt x="2241986" y="1886394"/>
                  </a:moveTo>
                  <a:lnTo>
                    <a:pt x="124460" y="1886394"/>
                  </a:lnTo>
                  <a:cubicBezTo>
                    <a:pt x="55880" y="1886394"/>
                    <a:pt x="0" y="1830514"/>
                    <a:pt x="0" y="17619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41986" y="0"/>
                  </a:lnTo>
                  <a:cubicBezTo>
                    <a:pt x="2310566" y="0"/>
                    <a:pt x="2366446" y="55880"/>
                    <a:pt x="2366446" y="124460"/>
                  </a:cubicBezTo>
                  <a:lnTo>
                    <a:pt x="2366446" y="1761934"/>
                  </a:lnTo>
                  <a:cubicBezTo>
                    <a:pt x="2366446" y="1830514"/>
                    <a:pt x="2310566" y="1886394"/>
                    <a:pt x="2241986" y="1886394"/>
                  </a:cubicBezTo>
                  <a:close/>
                </a:path>
              </a:pathLst>
            </a:custGeom>
            <a:solidFill>
              <a:srgbClr val="000000">
                <a:alpha val="274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187659">
            <a:off x="9550705" y="2377816"/>
            <a:ext cx="1556730" cy="1692098"/>
          </a:xfrm>
          <a:custGeom>
            <a:avLst/>
            <a:gdLst/>
            <a:ahLst/>
            <a:cxnLst/>
            <a:rect r="r" b="b" t="t" l="l"/>
            <a:pathLst>
              <a:path h="1692098" w="1556730">
                <a:moveTo>
                  <a:pt x="0" y="0"/>
                </a:moveTo>
                <a:lnTo>
                  <a:pt x="1556731" y="0"/>
                </a:lnTo>
                <a:lnTo>
                  <a:pt x="1556731" y="1692098"/>
                </a:lnTo>
                <a:lnTo>
                  <a:pt x="0" y="169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03050" y="2612772"/>
            <a:ext cx="1052040" cy="132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32"/>
              </a:lnSpc>
              <a:spcBef>
                <a:spcPct val="0"/>
              </a:spcBef>
            </a:pPr>
            <a:r>
              <a:rPr lang="en-US" b="true" sz="252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Your GLTF Avatar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91482">
            <a:off x="12243168" y="2363438"/>
            <a:ext cx="1734241" cy="1874855"/>
          </a:xfrm>
          <a:custGeom>
            <a:avLst/>
            <a:gdLst/>
            <a:ahLst/>
            <a:cxnLst/>
            <a:rect r="r" b="b" t="t" l="l"/>
            <a:pathLst>
              <a:path h="1874855" w="1734241">
                <a:moveTo>
                  <a:pt x="0" y="0"/>
                </a:moveTo>
                <a:lnTo>
                  <a:pt x="1734241" y="0"/>
                </a:lnTo>
                <a:lnTo>
                  <a:pt x="1734241" y="1874855"/>
                </a:lnTo>
                <a:lnTo>
                  <a:pt x="0" y="1874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51366" y="3097897"/>
            <a:ext cx="258923" cy="258923"/>
          </a:xfrm>
          <a:custGeom>
            <a:avLst/>
            <a:gdLst/>
            <a:ahLst/>
            <a:cxnLst/>
            <a:rect r="r" b="b" t="t" l="l"/>
            <a:pathLst>
              <a:path h="258923" w="258923">
                <a:moveTo>
                  <a:pt x="0" y="0"/>
                </a:moveTo>
                <a:lnTo>
                  <a:pt x="258923" y="0"/>
                </a:lnTo>
                <a:lnTo>
                  <a:pt x="258923" y="258923"/>
                </a:lnTo>
                <a:lnTo>
                  <a:pt x="0" y="258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98822" y="2694612"/>
            <a:ext cx="1422933" cy="1246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7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Your hand gestures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406914" y="4614258"/>
            <a:ext cx="8605233" cy="4496234"/>
          </a:xfrm>
          <a:custGeom>
            <a:avLst/>
            <a:gdLst/>
            <a:ahLst/>
            <a:cxnLst/>
            <a:rect r="r" b="b" t="t" l="l"/>
            <a:pathLst>
              <a:path h="4496234" w="8605233">
                <a:moveTo>
                  <a:pt x="0" y="0"/>
                </a:moveTo>
                <a:lnTo>
                  <a:pt x="8605234" y="0"/>
                </a:lnTo>
                <a:lnTo>
                  <a:pt x="8605234" y="4496235"/>
                </a:lnTo>
                <a:lnTo>
                  <a:pt x="0" y="44962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981075"/>
            <a:ext cx="39330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Lumo Playground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91040" y="3301652"/>
            <a:ext cx="7233860" cy="1666952"/>
            <a:chOff x="0" y="0"/>
            <a:chExt cx="9645147" cy="222260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9645147" cy="1211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 spc="-5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Obje</a:t>
              </a:r>
              <a:r>
                <a:rPr lang="en-US" b="true" sz="5499" spc="-5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ctives / Scope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697458"/>
              <a:ext cx="9645147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91040" y="4566633"/>
            <a:ext cx="6284436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an intuitive gesture-controlled 3D interface.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Allow hands-free 3D model interaction via browser.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Integrate voice commands for easy mode switching.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cross-platform accessibility with no software install.</a:t>
            </a:r>
          </a:p>
          <a:p>
            <a:pPr algn="l" marL="0" indent="0" lvl="0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1633" y="2511821"/>
            <a:ext cx="17384733" cy="7373171"/>
            <a:chOff x="0" y="0"/>
            <a:chExt cx="9620467" cy="4080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20467" cy="4080209"/>
            </a:xfrm>
            <a:custGeom>
              <a:avLst/>
              <a:gdLst/>
              <a:ahLst/>
              <a:cxnLst/>
              <a:rect r="r" b="b" t="t" l="l"/>
              <a:pathLst>
                <a:path h="4080209" w="9620467">
                  <a:moveTo>
                    <a:pt x="9496007" y="4080209"/>
                  </a:moveTo>
                  <a:lnTo>
                    <a:pt x="124460" y="4080209"/>
                  </a:lnTo>
                  <a:cubicBezTo>
                    <a:pt x="55880" y="4080209"/>
                    <a:pt x="0" y="4024329"/>
                    <a:pt x="0" y="3955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496007" y="0"/>
                  </a:lnTo>
                  <a:cubicBezTo>
                    <a:pt x="9564587" y="0"/>
                    <a:pt x="9620467" y="55880"/>
                    <a:pt x="9620467" y="124460"/>
                  </a:cubicBezTo>
                  <a:lnTo>
                    <a:pt x="9620467" y="3955749"/>
                  </a:lnTo>
                  <a:cubicBezTo>
                    <a:pt x="9620467" y="4024329"/>
                    <a:pt x="9564587" y="4080209"/>
                    <a:pt x="9496007" y="4080209"/>
                  </a:cubicBezTo>
                  <a:close/>
                </a:path>
              </a:pathLst>
            </a:custGeom>
            <a:solidFill>
              <a:srgbClr val="000000">
                <a:alpha val="2745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1446" y="6116285"/>
            <a:ext cx="1081595" cy="1081595"/>
          </a:xfrm>
          <a:custGeom>
            <a:avLst/>
            <a:gdLst/>
            <a:ahLst/>
            <a:cxnLst/>
            <a:rect r="r" b="b" t="t" l="l"/>
            <a:pathLst>
              <a:path h="1081595" w="1081595">
                <a:moveTo>
                  <a:pt x="0" y="0"/>
                </a:moveTo>
                <a:lnTo>
                  <a:pt x="1081595" y="0"/>
                </a:lnTo>
                <a:lnTo>
                  <a:pt x="1081595" y="1081595"/>
                </a:lnTo>
                <a:lnTo>
                  <a:pt x="0" y="108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49801" y="5143500"/>
            <a:ext cx="680420" cy="680420"/>
          </a:xfrm>
          <a:custGeom>
            <a:avLst/>
            <a:gdLst/>
            <a:ahLst/>
            <a:cxnLst/>
            <a:rect r="r" b="b" t="t" l="l"/>
            <a:pathLst>
              <a:path h="680420" w="680420">
                <a:moveTo>
                  <a:pt x="0" y="0"/>
                </a:moveTo>
                <a:lnTo>
                  <a:pt x="680420" y="0"/>
                </a:lnTo>
                <a:lnTo>
                  <a:pt x="680420" y="680420"/>
                </a:lnTo>
                <a:lnTo>
                  <a:pt x="0" y="680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28132" y="2271325"/>
            <a:ext cx="3091560" cy="957550"/>
            <a:chOff x="0" y="0"/>
            <a:chExt cx="4122080" cy="127673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122080" cy="1276734"/>
              <a:chOff x="0" y="0"/>
              <a:chExt cx="2132177" cy="660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3217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132177">
                    <a:moveTo>
                      <a:pt x="2007716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007717" y="0"/>
                    </a:lnTo>
                    <a:cubicBezTo>
                      <a:pt x="2076297" y="0"/>
                      <a:pt x="2132177" y="55880"/>
                      <a:pt x="2132177" y="124460"/>
                    </a:cubicBezTo>
                    <a:lnTo>
                      <a:pt x="2132177" y="535940"/>
                    </a:lnTo>
                    <a:cubicBezTo>
                      <a:pt x="2132177" y="604520"/>
                      <a:pt x="2076297" y="660400"/>
                      <a:pt x="2007717" y="660400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50537" y="432627"/>
              <a:ext cx="3421006" cy="449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Latency: ~ 200ms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2244" y="2994764"/>
            <a:ext cx="4124716" cy="1508158"/>
            <a:chOff x="0" y="0"/>
            <a:chExt cx="5499622" cy="201087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499622" cy="2010877"/>
              <a:chOff x="0" y="0"/>
              <a:chExt cx="2196608" cy="85473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96608" cy="854736"/>
              </a:xfrm>
              <a:custGeom>
                <a:avLst/>
                <a:gdLst/>
                <a:ahLst/>
                <a:cxnLst/>
                <a:rect r="r" b="b" t="t" l="l"/>
                <a:pathLst>
                  <a:path h="854736" w="2196608">
                    <a:moveTo>
                      <a:pt x="2072148" y="854736"/>
                    </a:moveTo>
                    <a:lnTo>
                      <a:pt x="124460" y="854736"/>
                    </a:lnTo>
                    <a:cubicBezTo>
                      <a:pt x="55880" y="854736"/>
                      <a:pt x="0" y="798856"/>
                      <a:pt x="0" y="73027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072148" y="0"/>
                    </a:lnTo>
                    <a:cubicBezTo>
                      <a:pt x="2140728" y="0"/>
                      <a:pt x="2196608" y="55880"/>
                      <a:pt x="2196608" y="124460"/>
                    </a:cubicBezTo>
                    <a:lnTo>
                      <a:pt x="2196608" y="730276"/>
                    </a:lnTo>
                    <a:cubicBezTo>
                      <a:pt x="2196608" y="798856"/>
                      <a:pt x="2140728" y="854736"/>
                      <a:pt x="2072148" y="854736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51111" y="537444"/>
              <a:ext cx="4597400" cy="90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2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Choose/Upload your GLFT File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294180" y="7256075"/>
            <a:ext cx="791687" cy="791687"/>
          </a:xfrm>
          <a:custGeom>
            <a:avLst/>
            <a:gdLst/>
            <a:ahLst/>
            <a:cxnLst/>
            <a:rect r="r" b="b" t="t" l="l"/>
            <a:pathLst>
              <a:path h="791687" w="791687">
                <a:moveTo>
                  <a:pt x="0" y="0"/>
                </a:moveTo>
                <a:lnTo>
                  <a:pt x="791687" y="0"/>
                </a:lnTo>
                <a:lnTo>
                  <a:pt x="791687" y="791686"/>
                </a:lnTo>
                <a:lnTo>
                  <a:pt x="0" y="791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52453" y="5583110"/>
            <a:ext cx="821459" cy="821459"/>
          </a:xfrm>
          <a:custGeom>
            <a:avLst/>
            <a:gdLst/>
            <a:ahLst/>
            <a:cxnLst/>
            <a:rect r="r" b="b" t="t" l="l"/>
            <a:pathLst>
              <a:path h="821459" w="821459">
                <a:moveTo>
                  <a:pt x="0" y="0"/>
                </a:moveTo>
                <a:lnTo>
                  <a:pt x="821459" y="0"/>
                </a:lnTo>
                <a:lnTo>
                  <a:pt x="821459" y="821459"/>
                </a:lnTo>
                <a:lnTo>
                  <a:pt x="0" y="8214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55006" y="577631"/>
            <a:ext cx="7002283" cy="1361625"/>
            <a:chOff x="0" y="0"/>
            <a:chExt cx="9336377" cy="18155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0"/>
              <a:ext cx="9336377" cy="1211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99"/>
                </a:lnSpc>
                <a:spcBef>
                  <a:spcPct val="0"/>
                </a:spcBef>
              </a:pPr>
              <a:r>
                <a:rPr lang="en-US" b="true" sz="5499" spc="-54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Syst</a:t>
              </a:r>
              <a:r>
                <a:rPr lang="en-US" b="true" sz="5499" spc="-54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 Architecture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90355"/>
              <a:ext cx="9336377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Lumo Playground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1446" y="6749842"/>
            <a:ext cx="2470562" cy="1495556"/>
            <a:chOff x="0" y="0"/>
            <a:chExt cx="3294083" cy="199407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086160" y="0"/>
              <a:ext cx="1121764" cy="1105020"/>
              <a:chOff x="0" y="0"/>
              <a:chExt cx="1276530" cy="12574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66601" y="129824"/>
              <a:ext cx="560882" cy="77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46"/>
                </a:lnSpc>
                <a:spcBef>
                  <a:spcPct val="0"/>
                </a:spcBef>
              </a:pPr>
              <a:r>
                <a:rPr lang="en-US" b="true" sz="3532" spc="-3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78950"/>
              <a:ext cx="3294083" cy="61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8"/>
                </a:lnSpc>
              </a:pPr>
              <a:r>
                <a:rPr lang="en-US" sz="3548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Camera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931018" y="5415506"/>
            <a:ext cx="2556991" cy="1978125"/>
            <a:chOff x="0" y="0"/>
            <a:chExt cx="3409322" cy="26375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1124157" y="0"/>
              <a:ext cx="1161007" cy="1143677"/>
              <a:chOff x="0" y="0"/>
              <a:chExt cx="1276530" cy="125747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414409" y="136698"/>
              <a:ext cx="580504" cy="80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19"/>
                </a:lnSpc>
                <a:spcBef>
                  <a:spcPct val="0"/>
                </a:spcBef>
              </a:pPr>
              <a:r>
                <a:rPr lang="en-US" b="true" sz="3656" spc="-36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500832"/>
              <a:ext cx="3409322" cy="1136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7"/>
                </a:lnSpc>
              </a:pPr>
              <a:r>
                <a:rPr lang="en-US" sz="3672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MediaPipe Hand Tracking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43679" y="5329178"/>
            <a:ext cx="2488487" cy="1868702"/>
            <a:chOff x="0" y="0"/>
            <a:chExt cx="3317983" cy="249160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1094040" y="0"/>
              <a:ext cx="1129903" cy="1113037"/>
              <a:chOff x="0" y="0"/>
              <a:chExt cx="1276530" cy="125747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76516" y="140775"/>
              <a:ext cx="564951" cy="774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81"/>
                </a:lnSpc>
                <a:spcBef>
                  <a:spcPct val="0"/>
                </a:spcBef>
              </a:pPr>
              <a:r>
                <a:rPr lang="en-US" b="true" sz="3558" spc="-3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397719"/>
              <a:ext cx="3317983" cy="1093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8"/>
                </a:lnSpc>
              </a:pPr>
              <a:r>
                <a:rPr lang="en-US" sz="3573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Gestures Recognition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41742" y="6886941"/>
            <a:ext cx="2219423" cy="1666651"/>
            <a:chOff x="0" y="0"/>
            <a:chExt cx="2959230" cy="2222202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975748" y="0"/>
              <a:ext cx="1007734" cy="992691"/>
              <a:chOff x="0" y="0"/>
              <a:chExt cx="1276530" cy="125747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27682" y="109849"/>
              <a:ext cx="503867" cy="706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43"/>
                </a:lnSpc>
                <a:spcBef>
                  <a:spcPct val="0"/>
                </a:spcBef>
              </a:pPr>
              <a:r>
                <a:rPr lang="en-US" b="true" sz="3173" spc="-3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239901"/>
              <a:ext cx="2959230" cy="982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49"/>
                </a:lnSpc>
              </a:pPr>
              <a:r>
                <a:rPr lang="en-US" sz="3187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3D Scenes</a:t>
              </a:r>
            </a:p>
            <a:p>
              <a:pPr algn="ctr">
                <a:lnSpc>
                  <a:spcPts val="2549"/>
                </a:lnSpc>
              </a:pPr>
              <a:r>
                <a:rPr lang="en-US" sz="3187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(Three.js)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580386" y="4685883"/>
            <a:ext cx="2410583" cy="1459247"/>
            <a:chOff x="0" y="0"/>
            <a:chExt cx="3214111" cy="1945663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1059790" y="0"/>
              <a:ext cx="1094531" cy="1078193"/>
              <a:chOff x="0" y="0"/>
              <a:chExt cx="1276530" cy="125747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1333423" y="125054"/>
              <a:ext cx="547265" cy="76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25"/>
                </a:lnSpc>
                <a:spcBef>
                  <a:spcPct val="0"/>
                </a:spcBef>
              </a:pPr>
              <a:r>
                <a:rPr lang="en-US" b="true" sz="3447" spc="-3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1357541"/>
              <a:ext cx="3214111" cy="588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9"/>
                </a:lnSpc>
              </a:pPr>
              <a:r>
                <a:rPr lang="en-US" sz="3461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Model Response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326702" y="6592519"/>
            <a:ext cx="2410583" cy="1810201"/>
            <a:chOff x="0" y="0"/>
            <a:chExt cx="3214111" cy="241360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059790" y="0"/>
              <a:ext cx="1094531" cy="1078193"/>
              <a:chOff x="0" y="0"/>
              <a:chExt cx="1276530" cy="125747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276530" cy="1257475"/>
              </a:xfrm>
              <a:custGeom>
                <a:avLst/>
                <a:gdLst/>
                <a:ahLst/>
                <a:cxnLst/>
                <a:rect r="r" b="b" t="t" l="l"/>
                <a:pathLst>
                  <a:path h="1257475" w="1276530">
                    <a:moveTo>
                      <a:pt x="1152070" y="1257475"/>
                    </a:moveTo>
                    <a:lnTo>
                      <a:pt x="124460" y="1257475"/>
                    </a:lnTo>
                    <a:cubicBezTo>
                      <a:pt x="55880" y="1257475"/>
                      <a:pt x="0" y="1201595"/>
                      <a:pt x="0" y="113301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52070" y="0"/>
                    </a:lnTo>
                    <a:cubicBezTo>
                      <a:pt x="1220650" y="0"/>
                      <a:pt x="1276530" y="55880"/>
                      <a:pt x="1276530" y="124460"/>
                    </a:cubicBezTo>
                    <a:lnTo>
                      <a:pt x="1276530" y="1133015"/>
                    </a:lnTo>
                    <a:cubicBezTo>
                      <a:pt x="1276530" y="1201595"/>
                      <a:pt x="1220650" y="1257475"/>
                      <a:pt x="1152070" y="1257475"/>
                    </a:cubicBezTo>
                    <a:close/>
                  </a:path>
                </a:pathLst>
              </a:custGeom>
              <a:solidFill>
                <a:srgbClr val="35A1F4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1333423" y="125054"/>
              <a:ext cx="547265" cy="761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825"/>
                </a:lnSpc>
                <a:spcBef>
                  <a:spcPct val="0"/>
                </a:spcBef>
              </a:pPr>
              <a:r>
                <a:rPr lang="en-US" sz="3447" spc="-34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1357541"/>
              <a:ext cx="3214111" cy="1056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9"/>
                </a:lnSpc>
              </a:pPr>
              <a:r>
                <a:rPr lang="en-US" sz="3461">
                  <a:solidFill>
                    <a:srgbClr val="000000"/>
                  </a:solidFill>
                  <a:latin typeface="Shuneet Square"/>
                  <a:ea typeface="Shuneet Square"/>
                  <a:cs typeface="Shuneet Square"/>
                  <a:sym typeface="Shuneet Square"/>
                </a:rPr>
                <a:t>Watch it in your browser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V="true">
            <a:off x="2601383" y="5750396"/>
            <a:ext cx="2095794" cy="11365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>
            <a:off x="5596960" y="5823920"/>
            <a:ext cx="241475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>
            <a:off x="8808025" y="5962169"/>
            <a:ext cx="1960327" cy="12939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 flipV="true">
            <a:off x="11491443" y="4920476"/>
            <a:ext cx="1819588" cy="19664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14234512" y="4920476"/>
            <a:ext cx="1842403" cy="16720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98148" y="2305156"/>
            <a:ext cx="3698793" cy="2811272"/>
          </a:xfrm>
          <a:custGeom>
            <a:avLst/>
            <a:gdLst/>
            <a:ahLst/>
            <a:cxnLst/>
            <a:rect r="r" b="b" t="t" l="l"/>
            <a:pathLst>
              <a:path h="2811272" w="3698793">
                <a:moveTo>
                  <a:pt x="0" y="0"/>
                </a:moveTo>
                <a:lnTo>
                  <a:pt x="3698793" y="0"/>
                </a:lnTo>
                <a:lnTo>
                  <a:pt x="3698793" y="2811272"/>
                </a:lnTo>
                <a:lnTo>
                  <a:pt x="0" y="28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9065" r="0" b="-19065"/>
            </a:stretch>
          </a:blipFill>
        </p:spPr>
      </p:sp>
      <p:sp>
        <p:nvSpPr>
          <p:cNvPr name="TextBox 3" id="3"/>
          <p:cNvSpPr txBox="true"/>
          <p:nvPr/>
        </p:nvSpPr>
        <p:spPr>
          <a:xfrm rot="82079">
            <a:off x="5989099" y="3124436"/>
            <a:ext cx="2660904" cy="76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7"/>
              </a:lnSpc>
            </a:pPr>
            <a:r>
              <a:rPr lang="en-US" sz="5154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Computer Vision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4013" y="3444099"/>
            <a:ext cx="690623" cy="690623"/>
          </a:xfrm>
          <a:custGeom>
            <a:avLst/>
            <a:gdLst/>
            <a:ahLst/>
            <a:cxnLst/>
            <a:rect r="r" b="b" t="t" l="l"/>
            <a:pathLst>
              <a:path h="690623" w="690623">
                <a:moveTo>
                  <a:pt x="0" y="0"/>
                </a:moveTo>
                <a:lnTo>
                  <a:pt x="690623" y="0"/>
                </a:lnTo>
                <a:lnTo>
                  <a:pt x="690623" y="690623"/>
                </a:lnTo>
                <a:lnTo>
                  <a:pt x="0" y="690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471">
            <a:off x="9794786" y="2217756"/>
            <a:ext cx="3476023" cy="3778286"/>
          </a:xfrm>
          <a:custGeom>
            <a:avLst/>
            <a:gdLst/>
            <a:ahLst/>
            <a:cxnLst/>
            <a:rect r="r" b="b" t="t" l="l"/>
            <a:pathLst>
              <a:path h="3778286" w="3476023">
                <a:moveTo>
                  <a:pt x="0" y="0"/>
                </a:moveTo>
                <a:lnTo>
                  <a:pt x="3476023" y="0"/>
                </a:lnTo>
                <a:lnTo>
                  <a:pt x="3476023" y="3778286"/>
                </a:lnTo>
                <a:lnTo>
                  <a:pt x="0" y="3778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6998">
            <a:off x="13893465" y="6619204"/>
            <a:ext cx="3506155" cy="3605301"/>
          </a:xfrm>
          <a:custGeom>
            <a:avLst/>
            <a:gdLst/>
            <a:ahLst/>
            <a:cxnLst/>
            <a:rect r="r" b="b" t="t" l="l"/>
            <a:pathLst>
              <a:path h="3605301" w="3506155">
                <a:moveTo>
                  <a:pt x="0" y="0"/>
                </a:moveTo>
                <a:lnTo>
                  <a:pt x="3506155" y="0"/>
                </a:lnTo>
                <a:lnTo>
                  <a:pt x="3506155" y="3605301"/>
                </a:lnTo>
                <a:lnTo>
                  <a:pt x="0" y="3605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82526" y="5894745"/>
            <a:ext cx="1578703" cy="580173"/>
          </a:xfrm>
          <a:custGeom>
            <a:avLst/>
            <a:gdLst/>
            <a:ahLst/>
            <a:cxnLst/>
            <a:rect r="r" b="b" t="t" l="l"/>
            <a:pathLst>
              <a:path h="580173" w="1578703">
                <a:moveTo>
                  <a:pt x="0" y="0"/>
                </a:moveTo>
                <a:lnTo>
                  <a:pt x="1578703" y="0"/>
                </a:lnTo>
                <a:lnTo>
                  <a:pt x="1578703" y="580173"/>
                </a:lnTo>
                <a:lnTo>
                  <a:pt x="0" y="580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6998">
            <a:off x="14226301" y="2673554"/>
            <a:ext cx="3506155" cy="3605301"/>
          </a:xfrm>
          <a:custGeom>
            <a:avLst/>
            <a:gdLst/>
            <a:ahLst/>
            <a:cxnLst/>
            <a:rect r="r" b="b" t="t" l="l"/>
            <a:pathLst>
              <a:path h="3605301" w="3506155">
                <a:moveTo>
                  <a:pt x="0" y="0"/>
                </a:moveTo>
                <a:lnTo>
                  <a:pt x="3506155" y="0"/>
                </a:lnTo>
                <a:lnTo>
                  <a:pt x="3506155" y="3605301"/>
                </a:lnTo>
                <a:lnTo>
                  <a:pt x="0" y="3605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12759" y="2535104"/>
            <a:ext cx="1578703" cy="580173"/>
          </a:xfrm>
          <a:custGeom>
            <a:avLst/>
            <a:gdLst/>
            <a:ahLst/>
            <a:cxnLst/>
            <a:rect r="r" b="b" t="t" l="l"/>
            <a:pathLst>
              <a:path h="580173" w="1578703">
                <a:moveTo>
                  <a:pt x="0" y="0"/>
                </a:moveTo>
                <a:lnTo>
                  <a:pt x="1578702" y="0"/>
                </a:lnTo>
                <a:lnTo>
                  <a:pt x="1578702" y="580173"/>
                </a:lnTo>
                <a:lnTo>
                  <a:pt x="0" y="5801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87659">
            <a:off x="9756893" y="6566932"/>
            <a:ext cx="3476023" cy="3778286"/>
          </a:xfrm>
          <a:custGeom>
            <a:avLst/>
            <a:gdLst/>
            <a:ahLst/>
            <a:cxnLst/>
            <a:rect r="r" b="b" t="t" l="l"/>
            <a:pathLst>
              <a:path h="3778286" w="3476023">
                <a:moveTo>
                  <a:pt x="0" y="0"/>
                </a:moveTo>
                <a:lnTo>
                  <a:pt x="3476024" y="0"/>
                </a:lnTo>
                <a:lnTo>
                  <a:pt x="3476024" y="3778286"/>
                </a:lnTo>
                <a:lnTo>
                  <a:pt x="0" y="3778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005706"/>
            <a:ext cx="4472890" cy="4338373"/>
            <a:chOff x="0" y="0"/>
            <a:chExt cx="5963853" cy="5784498"/>
          </a:xfrm>
        </p:grpSpPr>
        <p:sp>
          <p:nvSpPr>
            <p:cNvPr name="Freeform 12" id="12"/>
            <p:cNvSpPr/>
            <p:nvPr/>
          </p:nvSpPr>
          <p:spPr>
            <a:xfrm flipH="false" flipV="false" rot="438451">
              <a:off x="305498" y="319532"/>
              <a:ext cx="5352858" cy="5145435"/>
            </a:xfrm>
            <a:custGeom>
              <a:avLst/>
              <a:gdLst/>
              <a:ahLst/>
              <a:cxnLst/>
              <a:rect r="r" b="b" t="t" l="l"/>
              <a:pathLst>
                <a:path h="5145435" w="5352858">
                  <a:moveTo>
                    <a:pt x="0" y="0"/>
                  </a:moveTo>
                  <a:lnTo>
                    <a:pt x="5352858" y="0"/>
                  </a:lnTo>
                  <a:lnTo>
                    <a:pt x="5352858" y="5145434"/>
                  </a:lnTo>
                  <a:lnTo>
                    <a:pt x="0" y="5145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98937" y="2430782"/>
              <a:ext cx="3165979" cy="503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0"/>
                </a:lnSpc>
              </a:pPr>
              <a:r>
                <a:rPr lang="en-US" sz="229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Three.js (v0.161.0)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98937" y="1605826"/>
              <a:ext cx="3158596" cy="556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1"/>
                </a:lnSpc>
                <a:spcBef>
                  <a:spcPct val="0"/>
                </a:spcBef>
              </a:pPr>
              <a:r>
                <a:rPr lang="en-US" b="true" sz="250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3D Rendering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5907519"/>
            <a:ext cx="8022326" cy="4191665"/>
          </a:xfrm>
          <a:custGeom>
            <a:avLst/>
            <a:gdLst/>
            <a:ahLst/>
            <a:cxnLst/>
            <a:rect r="r" b="b" t="t" l="l"/>
            <a:pathLst>
              <a:path h="4191665" w="8022326">
                <a:moveTo>
                  <a:pt x="0" y="0"/>
                </a:moveTo>
                <a:lnTo>
                  <a:pt x="8022326" y="0"/>
                </a:lnTo>
                <a:lnTo>
                  <a:pt x="8022326" y="4191666"/>
                </a:lnTo>
                <a:lnTo>
                  <a:pt x="0" y="41916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97396">
            <a:off x="6250156" y="4331379"/>
            <a:ext cx="2651437" cy="36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0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MediaPipe (v0.10.14)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75217" y="3286287"/>
            <a:ext cx="1910745" cy="87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</a:pPr>
            <a:r>
              <a:rPr lang="en-US" sz="250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Gesture </a:t>
            </a:r>
          </a:p>
          <a:p>
            <a:pPr algn="ctr" marL="0" indent="0" lvl="0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Recognition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64472" y="4376265"/>
            <a:ext cx="2685181" cy="77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</a:pPr>
            <a:r>
              <a:rPr lang="en-US" sz="22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Media Pipe Tasks Vision</a:t>
            </a:r>
          </a:p>
        </p:txBody>
      </p:sp>
      <p:sp>
        <p:nvSpPr>
          <p:cNvPr name="TextBox 19" id="19"/>
          <p:cNvSpPr txBox="true"/>
          <p:nvPr/>
        </p:nvSpPr>
        <p:spPr>
          <a:xfrm rot="82079">
            <a:off x="14645586" y="7015024"/>
            <a:ext cx="2347870" cy="188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98"/>
              </a:lnSpc>
              <a:spcBef>
                <a:spcPct val="0"/>
              </a:spcBef>
            </a:pPr>
            <a:r>
              <a:rPr lang="en-US" sz="5427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Mo</a:t>
            </a:r>
            <a:r>
              <a:rPr lang="en-US" sz="5427" u="none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del Format</a:t>
            </a:r>
          </a:p>
        </p:txBody>
      </p:sp>
      <p:sp>
        <p:nvSpPr>
          <p:cNvPr name="TextBox 20" id="20"/>
          <p:cNvSpPr txBox="true"/>
          <p:nvPr/>
        </p:nvSpPr>
        <p:spPr>
          <a:xfrm rot="97396">
            <a:off x="14788009" y="8910681"/>
            <a:ext cx="2651437" cy="82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3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GLTF / GLB Loaders</a:t>
            </a:r>
          </a:p>
        </p:txBody>
      </p:sp>
      <p:sp>
        <p:nvSpPr>
          <p:cNvPr name="TextBox 21" id="21"/>
          <p:cNvSpPr txBox="true"/>
          <p:nvPr/>
        </p:nvSpPr>
        <p:spPr>
          <a:xfrm rot="82079">
            <a:off x="14806580" y="2498277"/>
            <a:ext cx="2347870" cy="18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98"/>
              </a:lnSpc>
              <a:spcBef>
                <a:spcPct val="0"/>
              </a:spcBef>
            </a:pPr>
            <a:r>
              <a:rPr lang="en-US" sz="5427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Web Graphics</a:t>
            </a:r>
          </a:p>
        </p:txBody>
      </p:sp>
      <p:sp>
        <p:nvSpPr>
          <p:cNvPr name="TextBox 22" id="22"/>
          <p:cNvSpPr txBox="true"/>
          <p:nvPr/>
        </p:nvSpPr>
        <p:spPr>
          <a:xfrm rot="97396">
            <a:off x="14791712" y="4475565"/>
            <a:ext cx="2651437" cy="54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9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WebGL, Canvas, JS framework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9533" y="7517271"/>
            <a:ext cx="1910745" cy="43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1"/>
              </a:lnSpc>
              <a:spcBef>
                <a:spcPct val="0"/>
              </a:spcBef>
            </a:pPr>
            <a:r>
              <a:rPr lang="en-US" b="true" sz="250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</a:t>
            </a:r>
            <a:r>
              <a:rPr lang="en-US" b="true" sz="250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 / Styling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09111" y="8095028"/>
            <a:ext cx="2571587" cy="46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5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CSS3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7240" y="466447"/>
            <a:ext cx="4589596" cy="764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67"/>
              </a:lnSpc>
              <a:spcBef>
                <a:spcPct val="0"/>
              </a:spcBef>
            </a:pPr>
            <a:r>
              <a:rPr lang="en-US" b="true" sz="447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27010" y="806704"/>
            <a:ext cx="10251456" cy="33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9"/>
              </a:lnSpc>
            </a:pPr>
            <a:r>
              <a:rPr lang="en-US" sz="202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Lumo Playground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8858" y="4453368"/>
            <a:ext cx="2868715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Scene &amp; model management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98284" y="4710663"/>
            <a:ext cx="286871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Hand Tracking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096789" y="5034547"/>
            <a:ext cx="2077437" cy="117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sz="22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Hardware-accelerated rendering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39533" y="8701203"/>
            <a:ext cx="2490523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Responsive design, animations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02039" y="3590975"/>
            <a:ext cx="5569852" cy="381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02"/>
              </a:lnSpc>
            </a:pPr>
            <a:r>
              <a:rPr lang="en-US" b="true" sz="13305" spc="-13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942779" y="3634183"/>
            <a:ext cx="3743182" cy="3630610"/>
            <a:chOff x="0" y="0"/>
            <a:chExt cx="4990909" cy="4840814"/>
          </a:xfrm>
        </p:grpSpPr>
        <p:sp>
          <p:nvSpPr>
            <p:cNvPr name="Freeform 4" id="4"/>
            <p:cNvSpPr/>
            <p:nvPr/>
          </p:nvSpPr>
          <p:spPr>
            <a:xfrm flipH="false" flipV="false" rot="438451">
              <a:off x="255659" y="267403"/>
              <a:ext cx="4479591" cy="4306007"/>
            </a:xfrm>
            <a:custGeom>
              <a:avLst/>
              <a:gdLst/>
              <a:ahLst/>
              <a:cxnLst/>
              <a:rect r="r" b="b" t="t" l="l"/>
              <a:pathLst>
                <a:path h="4306007" w="4479591">
                  <a:moveTo>
                    <a:pt x="0" y="0"/>
                  </a:moveTo>
                  <a:lnTo>
                    <a:pt x="4479591" y="0"/>
                  </a:lnTo>
                  <a:lnTo>
                    <a:pt x="4479591" y="4306007"/>
                  </a:lnTo>
                  <a:lnTo>
                    <a:pt x="0" y="4306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173804" y="1574192"/>
              <a:ext cx="2643302" cy="16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67"/>
                </a:lnSpc>
              </a:pPr>
              <a:r>
                <a:rPr lang="en-US" sz="3548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Good</a:t>
              </a:r>
            </a:p>
            <a:p>
              <a:pPr algn="ctr" marL="0" indent="0" lvl="0">
                <a:lnSpc>
                  <a:spcPts val="4967"/>
                </a:lnSpc>
                <a:spcBef>
                  <a:spcPct val="0"/>
                </a:spcBef>
              </a:pPr>
              <a:r>
                <a:rPr lang="en-US" sz="3548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Bye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81075"/>
            <a:ext cx="39330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Lumo Playground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DAG1RRtuYG0</dc:identifier>
  <dcterms:modified xsi:type="dcterms:W3CDTF">2011-08-01T06:04:30Z</dcterms:modified>
  <cp:revision>1</cp:revision>
  <dc:title>Lumo Playground</dc:title>
</cp:coreProperties>
</file>